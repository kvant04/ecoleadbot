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Unbounded"/>
      <p:regular r:id="rId201314"/>
    </p:embeddedFont>
    <p:embeddedFont>
      <p:font typeface="Unbounded Bold"/>
      <p:regular r:id="rId201315"/>
    </p:embeddedFont>
    <p:embeddedFont>
      <p:font typeface="Cabin"/>
      <p:regular r:id="rId201316"/>
    </p:embeddedFont>
    <p:embeddedFont>
      <p:font typeface="Cabin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4.png"/><Relationship Id="rId5" Type="http://schemas.openxmlformats.org/officeDocument/2006/relationships/image" Target="../media/image-2-5.svg"/><Relationship Id="rId6" Type="http://schemas.openxmlformats.org/officeDocument/2006/relationships/image" Target="../media/image-2-6.png"/><Relationship Id="rId7" Type="http://schemas.openxmlformats.org/officeDocument/2006/relationships/image" Target="../media/image-2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image" Target="../media/image-6-8.svg"/><Relationship Id="rId9" Type="http://schemas.openxmlformats.org/officeDocument/2006/relationships/image" Target="../media/image-6-9.png"/><Relationship Id="rId10" Type="http://schemas.openxmlformats.org/officeDocument/2006/relationships/image" Target="../media/image-6-10.svg"/><Relationship Id="rId11" Type="http://schemas.openxmlformats.org/officeDocument/2006/relationships/image" Target="../media/image-6-11.png"/><Relationship Id="rId12" Type="http://schemas.openxmlformats.org/officeDocument/2006/relationships/image" Target="../media/image-6-12.sv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svg"/><Relationship Id="rId4" Type="http://schemas.openxmlformats.org/officeDocument/2006/relationships/image" Target="../media/image-8-4.png"/><Relationship Id="rId5" Type="http://schemas.openxmlformats.org/officeDocument/2006/relationships/image" Target="../media/image-8-5.svg"/><Relationship Id="rId6" Type="http://schemas.openxmlformats.org/officeDocument/2006/relationships/image" Target="../media/image-8-6.png"/><Relationship Id="rId7" Type="http://schemas.openxmlformats.org/officeDocument/2006/relationships/image" Target="../media/image-8-7.svg"/><Relationship Id="rId8" Type="http://schemas.openxmlformats.org/officeDocument/2006/relationships/image" Target="../media/image-8-8.png"/><Relationship Id="rId9" Type="http://schemas.openxmlformats.org/officeDocument/2006/relationships/image" Target="../media/image-8-9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svg"/><Relationship Id="rId4" Type="http://schemas.openxmlformats.org/officeDocument/2006/relationships/image" Target="../media/image-10-4.png"/><Relationship Id="rId5" Type="http://schemas.openxmlformats.org/officeDocument/2006/relationships/image" Target="../media/image-10-5.svg"/><Relationship Id="rId6" Type="http://schemas.openxmlformats.org/officeDocument/2006/relationships/image" Target="../media/image-10-6.png"/><Relationship Id="rId7" Type="http://schemas.openxmlformats.org/officeDocument/2006/relationships/image" Target="../media/image-10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23577" y="1498774"/>
            <a:ext cx="1840185" cy="281136"/>
          </a:xfrm>
          <a:prstGeom prst="roundRect">
            <a:avLst>
              <a:gd name="adj" fmla="val 6386"/>
            </a:avLst>
          </a:prstGeom>
          <a:solidFill>
            <a:srgbClr val="054842"/>
          </a:solidFill>
          <a:ln/>
        </p:spPr>
      </p:sp>
      <p:sp>
        <p:nvSpPr>
          <p:cNvPr id="4" name="Text 1"/>
          <p:cNvSpPr/>
          <p:nvPr/>
        </p:nvSpPr>
        <p:spPr>
          <a:xfrm>
            <a:off x="613321" y="1543645"/>
            <a:ext cx="2117899" cy="191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ВЫПУСКНОЙ ПРОЕКТ ПО ИИ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23577" y="1839739"/>
            <a:ext cx="3977506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EcoLeadBot</a:t>
            </a:r>
            <a:endParaRPr lang="en-US" sz="2750" dirty="0"/>
          </a:p>
        </p:txBody>
      </p:sp>
      <p:sp>
        <p:nvSpPr>
          <p:cNvPr id="6" name="Text 3"/>
          <p:cNvSpPr/>
          <p:nvPr/>
        </p:nvSpPr>
        <p:spPr>
          <a:xfrm>
            <a:off x="523577" y="2504108"/>
            <a:ext cx="4667845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0A988B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AI-assisted qualification and routing system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для повышения конверсии сайта компании «Экологические услуги»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523577" y="3188494"/>
            <a:ext cx="4667845" cy="11162"/>
          </a:xfrm>
          <a:prstGeom prst="rect">
            <a:avLst/>
          </a:prstGeom>
          <a:solidFill>
            <a:srgbClr val="CAD6DE">
              <a:alpha val="50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523577" y="3405262"/>
            <a:ext cx="5125045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Автор: </a:t>
            </a:r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Олег Доронин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6660" y="341933"/>
            <a:ext cx="8045053" cy="343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Почему возникла необходимость в проекте?</a:t>
            </a:r>
            <a:endParaRPr lang="en-US" sz="21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6660" y="1442442"/>
            <a:ext cx="4834086" cy="2739256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86376" y="925339"/>
            <a:ext cx="2485579" cy="1363489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074643" y="1056456"/>
            <a:ext cx="2166193" cy="3437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SEO-трафик есть — конверсии нет</a:t>
            </a:r>
            <a:endParaRPr lang="en-US" sz="1050" dirty="0"/>
          </a:p>
        </p:txBody>
      </p:sp>
      <p:sp>
        <p:nvSpPr>
          <p:cNvPr id="6" name="Text 2"/>
          <p:cNvSpPr/>
          <p:nvPr/>
        </p:nvSpPr>
        <p:spPr>
          <a:xfrm>
            <a:off x="6074643" y="1491555"/>
            <a:ext cx="2166193" cy="6661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Сайт получает значительный органический трафик, но большинство посетителей уходят без контакта</a:t>
            </a:r>
            <a:endParaRPr lang="en-US" sz="9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86376" y="2380134"/>
            <a:ext cx="2485579" cy="119695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074643" y="2511251"/>
            <a:ext cx="2166193" cy="3437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Лиды не квалифицированы</a:t>
            </a:r>
            <a:endParaRPr lang="en-US" sz="1050" dirty="0"/>
          </a:p>
        </p:txBody>
      </p:sp>
      <p:sp>
        <p:nvSpPr>
          <p:cNvPr id="9" name="Text 4"/>
          <p:cNvSpPr/>
          <p:nvPr/>
        </p:nvSpPr>
        <p:spPr>
          <a:xfrm>
            <a:off x="6074643" y="2946350"/>
            <a:ext cx="2166193" cy="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Менеджеры получают заявки без понимания потребностей клиента, что снижает эффективность продаж</a:t>
            </a:r>
            <a:endParaRPr lang="en-US" sz="9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886376" y="3668390"/>
            <a:ext cx="2485579" cy="103041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074643" y="3799508"/>
            <a:ext cx="2166193" cy="3437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Текущий CR Visitor → Lead</a:t>
            </a:r>
            <a:endParaRPr lang="en-US" sz="1050" dirty="0"/>
          </a:p>
        </p:txBody>
      </p:sp>
      <p:sp>
        <p:nvSpPr>
          <p:cNvPr id="12" name="Text 6"/>
          <p:cNvSpPr/>
          <p:nvPr/>
        </p:nvSpPr>
        <p:spPr>
          <a:xfrm>
            <a:off x="6074643" y="4234607"/>
            <a:ext cx="2166193" cy="3330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900" b="1" dirty="0">
                <a:solidFill>
                  <a:srgbClr val="0A988B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1,07%</a:t>
            </a:r>
            <a:pPr algn="l" indent="0" marL="0">
              <a:lnSpc>
                <a:spcPct val="119000"/>
              </a:lnSpc>
              <a:buNone/>
            </a:pPr>
            <a:r>
              <a:rPr lang="en-US" sz="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— цель проекта: увеличить конверсию </a:t>
            </a:r>
            <a:pPr algn="l" indent="0" marL="0">
              <a:lnSpc>
                <a:spcPct val="119000"/>
              </a:lnSpc>
              <a:buNone/>
            </a:pPr>
            <a:r>
              <a:rPr lang="en-US" sz="90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более чем до 2%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915888"/>
            <a:ext cx="5481042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Что такое EcoLeadBot?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523577" y="1655118"/>
            <a:ext cx="8554045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Это </a:t>
            </a:r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не чат-бот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и </a:t>
            </a:r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не AI-эколог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. Это система квалификации и маршрутизации посетителей сайта.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23577" y="2062758"/>
            <a:ext cx="2599209" cy="2164779"/>
          </a:xfrm>
          <a:prstGeom prst="roundRect">
            <a:avLst>
              <a:gd name="adj" fmla="val 1037"/>
            </a:avLst>
          </a:prstGeom>
          <a:solidFill>
            <a:srgbClr val="304755"/>
          </a:solidFill>
          <a:ln/>
        </p:spPr>
      </p:sp>
      <p:sp>
        <p:nvSpPr>
          <p:cNvPr id="5" name="Shape 3"/>
          <p:cNvSpPr/>
          <p:nvPr/>
        </p:nvSpPr>
        <p:spPr>
          <a:xfrm>
            <a:off x="673150" y="2212330"/>
            <a:ext cx="448791" cy="448791"/>
          </a:xfrm>
          <a:prstGeom prst="roundRect">
            <a:avLst>
              <a:gd name="adj" fmla="val 12732939"/>
            </a:avLst>
          </a:prstGeom>
          <a:solidFill>
            <a:srgbClr val="0A988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6528" y="2335709"/>
            <a:ext cx="201960" cy="2019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73150" y="2810694"/>
            <a:ext cx="2300064" cy="439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Помощь в выборе услуги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73150" y="3340373"/>
            <a:ext cx="2300064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Направляет пользователя к нужной услуге через диалоговый интерфейс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272358" y="2062758"/>
            <a:ext cx="2599209" cy="2164779"/>
          </a:xfrm>
          <a:prstGeom prst="roundRect">
            <a:avLst>
              <a:gd name="adj" fmla="val 1037"/>
            </a:avLst>
          </a:prstGeom>
          <a:solidFill>
            <a:srgbClr val="304755"/>
          </a:solidFill>
          <a:ln/>
        </p:spPr>
      </p:sp>
      <p:sp>
        <p:nvSpPr>
          <p:cNvPr id="10" name="Shape 7"/>
          <p:cNvSpPr/>
          <p:nvPr/>
        </p:nvSpPr>
        <p:spPr>
          <a:xfrm>
            <a:off x="3421931" y="2212330"/>
            <a:ext cx="448791" cy="448791"/>
          </a:xfrm>
          <a:prstGeom prst="roundRect">
            <a:avLst>
              <a:gd name="adj" fmla="val 12732939"/>
            </a:avLst>
          </a:prstGeom>
          <a:solidFill>
            <a:srgbClr val="0A988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45309" y="2335709"/>
            <a:ext cx="201960" cy="2019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21931" y="2810694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RAG-ответы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3421931" y="3120405"/>
            <a:ext cx="2300064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Отвечает на типовые экологические вопросы на основе верифицированной базы знаний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021139" y="2062758"/>
            <a:ext cx="2599283" cy="2164779"/>
          </a:xfrm>
          <a:prstGeom prst="roundRect">
            <a:avLst>
              <a:gd name="adj" fmla="val 1037"/>
            </a:avLst>
          </a:prstGeom>
          <a:solidFill>
            <a:srgbClr val="304755"/>
          </a:solidFill>
          <a:ln/>
        </p:spPr>
      </p:sp>
      <p:sp>
        <p:nvSpPr>
          <p:cNvPr id="15" name="Shape 11"/>
          <p:cNvSpPr/>
          <p:nvPr/>
        </p:nvSpPr>
        <p:spPr>
          <a:xfrm>
            <a:off x="6170712" y="2212330"/>
            <a:ext cx="448791" cy="448791"/>
          </a:xfrm>
          <a:prstGeom prst="roundRect">
            <a:avLst>
              <a:gd name="adj" fmla="val 12732939"/>
            </a:avLst>
          </a:prstGeom>
          <a:solidFill>
            <a:srgbClr val="0A988B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94090" y="2335709"/>
            <a:ext cx="201960" cy="2019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170712" y="2810694"/>
            <a:ext cx="2300139" cy="439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Передача лидов в CRM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6170712" y="3340373"/>
            <a:ext cx="2300139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Квалифицированные контакты автоматически передаются в Bitrix24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59855" y="314995"/>
            <a:ext cx="3983459" cy="281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Архитектура EcoLeadBot</a:t>
            </a:r>
            <a:endParaRPr lang="en-US" sz="1750" dirty="0"/>
          </a:p>
        </p:txBody>
      </p:sp>
      <p:sp>
        <p:nvSpPr>
          <p:cNvPr id="3" name="Text 1"/>
          <p:cNvSpPr/>
          <p:nvPr/>
        </p:nvSpPr>
        <p:spPr>
          <a:xfrm>
            <a:off x="1459855" y="2066925"/>
            <a:ext cx="2995240" cy="3772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7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Сквозной процесс от первого визита до закрытия сделки — полностью автоматизирован на этапе квалификации и маршрутизации.</a:t>
            </a:r>
            <a:endParaRPr lang="en-US" sz="7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93667" y="757982"/>
            <a:ext cx="2995240" cy="2995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59855" y="3891335"/>
            <a:ext cx="191691" cy="119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CAD6DE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01</a:t>
            </a:r>
            <a:endParaRPr lang="en-US" sz="750" dirty="0"/>
          </a:p>
        </p:txBody>
      </p:sp>
      <p:sp>
        <p:nvSpPr>
          <p:cNvPr id="6" name="Shape 3"/>
          <p:cNvSpPr/>
          <p:nvPr/>
        </p:nvSpPr>
        <p:spPr>
          <a:xfrm>
            <a:off x="1459855" y="4039939"/>
            <a:ext cx="3081412" cy="14288"/>
          </a:xfrm>
          <a:prstGeom prst="rect">
            <a:avLst/>
          </a:prstGeom>
          <a:solidFill>
            <a:srgbClr val="0A988B"/>
          </a:solidFill>
          <a:ln/>
        </p:spPr>
      </p:sp>
      <p:sp>
        <p:nvSpPr>
          <p:cNvPr id="7" name="Text 4"/>
          <p:cNvSpPr/>
          <p:nvPr/>
        </p:nvSpPr>
        <p:spPr>
          <a:xfrm>
            <a:off x="1459855" y="4116437"/>
            <a:ext cx="2270224" cy="1408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SEO-трафик → Сайт ecolusspb.ru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4602659" y="3891335"/>
            <a:ext cx="191691" cy="119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CAD6DE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02</a:t>
            </a:r>
            <a:endParaRPr lang="en-US" sz="750" dirty="0"/>
          </a:p>
        </p:txBody>
      </p:sp>
      <p:sp>
        <p:nvSpPr>
          <p:cNvPr id="9" name="Shape 6"/>
          <p:cNvSpPr/>
          <p:nvPr/>
        </p:nvSpPr>
        <p:spPr>
          <a:xfrm>
            <a:off x="4602659" y="4039939"/>
            <a:ext cx="3081486" cy="14288"/>
          </a:xfrm>
          <a:prstGeom prst="rect">
            <a:avLst/>
          </a:prstGeom>
          <a:solidFill>
            <a:srgbClr val="0A988B"/>
          </a:solidFill>
          <a:ln/>
        </p:spPr>
      </p:sp>
      <p:sp>
        <p:nvSpPr>
          <p:cNvPr id="10" name="Text 7"/>
          <p:cNvSpPr/>
          <p:nvPr/>
        </p:nvSpPr>
        <p:spPr>
          <a:xfrm>
            <a:off x="4602659" y="4116437"/>
            <a:ext cx="2391519" cy="1408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EcoLeadBot: квалификация + RAG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459855" y="4390579"/>
            <a:ext cx="191691" cy="119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CAD6DE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03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1459855" y="4539183"/>
            <a:ext cx="3081412" cy="14288"/>
          </a:xfrm>
          <a:prstGeom prst="rect">
            <a:avLst/>
          </a:prstGeom>
          <a:solidFill>
            <a:srgbClr val="0A988B"/>
          </a:solidFill>
          <a:ln/>
        </p:spPr>
      </p:sp>
      <p:sp>
        <p:nvSpPr>
          <p:cNvPr id="13" name="Text 10"/>
          <p:cNvSpPr/>
          <p:nvPr/>
        </p:nvSpPr>
        <p:spPr>
          <a:xfrm>
            <a:off x="1459855" y="4615681"/>
            <a:ext cx="2211958" cy="1408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Contact Screen: сбор контактов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4602659" y="4390579"/>
            <a:ext cx="191691" cy="119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CAD6DE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04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4602659" y="4539183"/>
            <a:ext cx="3081486" cy="14288"/>
          </a:xfrm>
          <a:prstGeom prst="rect">
            <a:avLst/>
          </a:prstGeom>
          <a:solidFill>
            <a:srgbClr val="0A988B"/>
          </a:solidFill>
          <a:ln/>
        </p:spPr>
      </p:sp>
      <p:sp>
        <p:nvSpPr>
          <p:cNvPr id="16" name="Text 13"/>
          <p:cNvSpPr/>
          <p:nvPr/>
        </p:nvSpPr>
        <p:spPr>
          <a:xfrm>
            <a:off x="4602659" y="4615681"/>
            <a:ext cx="2680990" cy="1408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n8n → Bitrix24 → Менеджер → Продажа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0757" y="355402"/>
            <a:ext cx="7089725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RAG как безопасный источник знаний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00757" y="1319213"/>
            <a:ext cx="2433712" cy="175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База знаний включает</a:t>
            </a:r>
            <a:endParaRPr lang="en-US" sz="1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5406" y="1607269"/>
            <a:ext cx="178817" cy="17881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88157" y="1601391"/>
            <a:ext cx="3338364" cy="171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Экологическое законодательство РФ</a:t>
            </a:r>
            <a:endParaRPr lang="en-US" sz="9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5406" y="2160761"/>
            <a:ext cx="178817" cy="17881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88157" y="2154882"/>
            <a:ext cx="3338364" cy="171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Услуги и прайс компании</a:t>
            </a:r>
            <a:endParaRPr lang="en-US" sz="9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5406" y="2714253"/>
            <a:ext cx="178817" cy="178817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088157" y="2708374"/>
            <a:ext cx="3338364" cy="171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Информация о компании</a:t>
            </a:r>
            <a:endParaRPr lang="en-US" sz="9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5406" y="3267745"/>
            <a:ext cx="178817" cy="178817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088157" y="3261866"/>
            <a:ext cx="3338364" cy="171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Часто задаваемые вопросы (FAQ)</a:t>
            </a:r>
            <a:endParaRPr lang="en-US" sz="900" dirty="0"/>
          </a:p>
        </p:txBody>
      </p:sp>
      <p:sp>
        <p:nvSpPr>
          <p:cNvPr id="12" name="Shape 6"/>
          <p:cNvSpPr/>
          <p:nvPr/>
        </p:nvSpPr>
        <p:spPr>
          <a:xfrm>
            <a:off x="700757" y="3732237"/>
            <a:ext cx="3725763" cy="573137"/>
          </a:xfrm>
          <a:prstGeom prst="roundRect">
            <a:avLst>
              <a:gd name="adj" fmla="val 3120"/>
            </a:avLst>
          </a:prstGeom>
          <a:solidFill>
            <a:srgbClr val="054842"/>
          </a:solidFill>
          <a:ln/>
        </p:spPr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9969" y="3900711"/>
            <a:ext cx="148977" cy="119211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088157" y="3847505"/>
            <a:ext cx="3219152" cy="3426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Принцип:</a:t>
            </a:r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«Отсутствие ответа лучше неверного ответа»</a:t>
            </a:r>
            <a:endParaRPr lang="en-US" sz="900" dirty="0"/>
          </a:p>
        </p:txBody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22093" y="955402"/>
            <a:ext cx="3725763" cy="372576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0910" y="550069"/>
            <a:ext cx="5908402" cy="412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Используемые технологии</a:t>
            </a:r>
            <a:endParaRPr lang="en-US" sz="25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0910" y="1225525"/>
            <a:ext cx="280467" cy="28046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0910" y="1670298"/>
            <a:ext cx="1650132" cy="206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Frontend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490910" y="1955453"/>
            <a:ext cx="3998937" cy="217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HTML / CSS / JavaScript — размещён на GitHub Pages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54153" y="1225525"/>
            <a:ext cx="280467" cy="28046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54153" y="1670298"/>
            <a:ext cx="1650132" cy="206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Backend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4654153" y="1955453"/>
            <a:ext cx="3998937" cy="217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FastAPI — лёгкий и быстрый Python-фреймворк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0910" y="2435796"/>
            <a:ext cx="280467" cy="28046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90910" y="2880568"/>
            <a:ext cx="1650132" cy="206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LLM</a:t>
            </a:r>
            <a:endParaRPr lang="en-US" sz="1250" dirty="0"/>
          </a:p>
        </p:txBody>
      </p:sp>
      <p:sp>
        <p:nvSpPr>
          <p:cNvPr id="11" name="Text 6"/>
          <p:cNvSpPr/>
          <p:nvPr/>
        </p:nvSpPr>
        <p:spPr>
          <a:xfrm>
            <a:off x="490910" y="3165723"/>
            <a:ext cx="3998937" cy="217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GPT-4.1 mini от OpenAI — баланс точности и стоимости</a:t>
            </a:r>
            <a:endParaRPr lang="en-US" sz="11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54153" y="2435796"/>
            <a:ext cx="280467" cy="280467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654153" y="2880568"/>
            <a:ext cx="1650132" cy="206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RAG</a:t>
            </a:r>
            <a:endParaRPr lang="en-US" sz="1250" dirty="0"/>
          </a:p>
        </p:txBody>
      </p:sp>
      <p:sp>
        <p:nvSpPr>
          <p:cNvPr id="14" name="Text 8"/>
          <p:cNvSpPr/>
          <p:nvPr/>
        </p:nvSpPr>
        <p:spPr>
          <a:xfrm>
            <a:off x="4654153" y="3165723"/>
            <a:ext cx="3998937" cy="217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OpenAI Vector Store — семантический поиск по базе знаний</a:t>
            </a:r>
            <a:endParaRPr lang="en-US" sz="11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90910" y="3646066"/>
            <a:ext cx="280467" cy="280467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90910" y="4090839"/>
            <a:ext cx="1650132" cy="206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Оркестрация</a:t>
            </a:r>
            <a:endParaRPr lang="en-US" sz="1250" dirty="0"/>
          </a:p>
        </p:txBody>
      </p:sp>
      <p:sp>
        <p:nvSpPr>
          <p:cNvPr id="17" name="Text 10"/>
          <p:cNvSpPr/>
          <p:nvPr/>
        </p:nvSpPr>
        <p:spPr>
          <a:xfrm>
            <a:off x="490910" y="4375993"/>
            <a:ext cx="3998937" cy="217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n8n — автоматизация передачи данных в CRM</a:t>
            </a:r>
            <a:endParaRPr lang="en-US" sz="11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654153" y="3646066"/>
            <a:ext cx="280467" cy="280467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4654153" y="4090839"/>
            <a:ext cx="1650132" cy="206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CRM</a:t>
            </a:r>
            <a:endParaRPr lang="en-US" sz="1250" dirty="0"/>
          </a:p>
        </p:txBody>
      </p:sp>
      <p:sp>
        <p:nvSpPr>
          <p:cNvPr id="20" name="Text 12"/>
          <p:cNvSpPr/>
          <p:nvPr/>
        </p:nvSpPr>
        <p:spPr>
          <a:xfrm>
            <a:off x="4654153" y="4375993"/>
            <a:ext cx="3998937" cy="217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Bitrix24 — приём лидов и управление продажами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050" y="357932"/>
            <a:ext cx="6146304" cy="3713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Внутреннее тестирование RAG</a:t>
            </a:r>
            <a:endParaRPr lang="en-US" sz="23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3050" y="1008831"/>
            <a:ext cx="3944987" cy="283956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30725" y="995511"/>
            <a:ext cx="2657029" cy="185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35 сценариев проверки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4730725" y="1287661"/>
            <a:ext cx="3944987" cy="5583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Тестирование охватило все ключевые области знаний системы. Результаты подтверждают высокую точность ответов и надёжность защитных механизмов.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473050" y="4088011"/>
            <a:ext cx="4045669" cy="697557"/>
          </a:xfrm>
          <a:prstGeom prst="roundRect">
            <a:avLst>
              <a:gd name="adj" fmla="val 2715"/>
            </a:avLst>
          </a:prstGeom>
          <a:solidFill>
            <a:srgbClr val="304755"/>
          </a:solidFill>
          <a:ln/>
        </p:spPr>
      </p:sp>
      <p:sp>
        <p:nvSpPr>
          <p:cNvPr id="7" name="Text 4"/>
          <p:cNvSpPr/>
          <p:nvPr/>
        </p:nvSpPr>
        <p:spPr>
          <a:xfrm>
            <a:off x="599256" y="4214217"/>
            <a:ext cx="2522562" cy="195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✅</a:t>
            </a:r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 Без критических ошибок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599256" y="4473253"/>
            <a:ext cx="3793257" cy="186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Все сценарии прошли успешно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625206" y="4088011"/>
            <a:ext cx="4045744" cy="697557"/>
          </a:xfrm>
          <a:prstGeom prst="roundRect">
            <a:avLst>
              <a:gd name="adj" fmla="val 2715"/>
            </a:avLst>
          </a:prstGeom>
          <a:solidFill>
            <a:srgbClr val="304755"/>
          </a:solidFill>
          <a:ln/>
        </p:spPr>
      </p:sp>
      <p:sp>
        <p:nvSpPr>
          <p:cNvPr id="10" name="Text 7"/>
          <p:cNvSpPr/>
          <p:nvPr/>
        </p:nvSpPr>
        <p:spPr>
          <a:xfrm>
            <a:off x="4751412" y="4214217"/>
            <a:ext cx="2925291" cy="195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🔒</a:t>
            </a:r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 Безопасность подтверждена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4751412" y="4473253"/>
            <a:ext cx="3793331" cy="186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Система не выходит за рамки компетенции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2724" y="424086"/>
            <a:ext cx="7548935" cy="4056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Финансовое обоснование проекта</a:t>
            </a:r>
            <a:endParaRPr lang="en-US" sz="25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2724" y="1163464"/>
            <a:ext cx="3921026" cy="282237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5013" y="1147539"/>
            <a:ext cx="2503512" cy="202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Структура бюджета</a:t>
            </a:r>
            <a:endParaRPr lang="en-US" sz="12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25963" y="1493416"/>
            <a:ext cx="1916013" cy="1482477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959102" y="1650355"/>
            <a:ext cx="1525935" cy="4057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Разработка MVP</a:t>
            </a:r>
            <a:endParaRPr lang="en-US" sz="1250" dirty="0"/>
          </a:p>
        </p:txBody>
      </p:sp>
      <p:sp>
        <p:nvSpPr>
          <p:cNvPr id="7" name="Text 3"/>
          <p:cNvSpPr/>
          <p:nvPr/>
        </p:nvSpPr>
        <p:spPr>
          <a:xfrm>
            <a:off x="4959102" y="2183160"/>
            <a:ext cx="1525935" cy="6357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1 000 000 ₽</a:t>
            </a:r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— основная статья расходов</a:t>
            </a:r>
            <a:endParaRPr lang="en-US" sz="10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50025" y="1493416"/>
            <a:ext cx="1916013" cy="1482477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983164" y="1650355"/>
            <a:ext cx="1525935" cy="202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RAG Extension</a:t>
            </a:r>
            <a:endParaRPr lang="en-US" sz="1250" dirty="0"/>
          </a:p>
        </p:txBody>
      </p:sp>
      <p:sp>
        <p:nvSpPr>
          <p:cNvPr id="10" name="Text 5"/>
          <p:cNvSpPr/>
          <p:nvPr/>
        </p:nvSpPr>
        <p:spPr>
          <a:xfrm>
            <a:off x="6983164" y="1980307"/>
            <a:ext cx="1525935" cy="6357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100 000 ₽</a:t>
            </a:r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— расширение базы знаний</a:t>
            </a:r>
            <a:endParaRPr lang="en-US" sz="10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725963" y="3102992"/>
            <a:ext cx="1916013" cy="147339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959102" y="3259931"/>
            <a:ext cx="1525935" cy="4057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Инфраструктура</a:t>
            </a:r>
            <a:endParaRPr lang="en-US" sz="1250" dirty="0"/>
          </a:p>
        </p:txBody>
      </p:sp>
      <p:sp>
        <p:nvSpPr>
          <p:cNvPr id="13" name="Text 7"/>
          <p:cNvSpPr/>
          <p:nvPr/>
        </p:nvSpPr>
        <p:spPr>
          <a:xfrm>
            <a:off x="4959102" y="3792736"/>
            <a:ext cx="1525935" cy="4238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24 000 ₽/год</a:t>
            </a:r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— VPS и хостинг</a:t>
            </a:r>
            <a:endParaRPr lang="en-US" sz="105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750025" y="3102992"/>
            <a:ext cx="1916013" cy="1473398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6983164" y="3259931"/>
            <a:ext cx="1525935" cy="6085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Общий бюджет 1-го года</a:t>
            </a:r>
            <a:endParaRPr lang="en-US" sz="1250" dirty="0"/>
          </a:p>
        </p:txBody>
      </p:sp>
      <p:sp>
        <p:nvSpPr>
          <p:cNvPr id="16" name="Text 9"/>
          <p:cNvSpPr/>
          <p:nvPr/>
        </p:nvSpPr>
        <p:spPr>
          <a:xfrm>
            <a:off x="6983164" y="3995589"/>
            <a:ext cx="1525935" cy="4238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b="1" dirty="0">
                <a:solidFill>
                  <a:srgbClr val="0A988B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1 461 200 ₽</a:t>
            </a:r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с учётом буфера 30%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2724" y="431527"/>
            <a:ext cx="4870028" cy="4056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Окупаемость проекта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482724" y="1160338"/>
            <a:ext cx="4009802" cy="455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5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80K</a:t>
            </a:r>
            <a:endParaRPr lang="en-US" sz="3550" dirty="0"/>
          </a:p>
        </p:txBody>
      </p:sp>
      <p:sp>
        <p:nvSpPr>
          <p:cNvPr id="4" name="Text 2"/>
          <p:cNvSpPr/>
          <p:nvPr/>
        </p:nvSpPr>
        <p:spPr>
          <a:xfrm>
            <a:off x="1676326" y="1779687"/>
            <a:ext cx="1622599" cy="202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Средний чек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82724" y="2058814"/>
            <a:ext cx="4009802" cy="2119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₽ в год с одного клиента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651400" y="1160338"/>
            <a:ext cx="4009876" cy="455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5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5%</a:t>
            </a:r>
            <a:endParaRPr lang="en-US" sz="3550" dirty="0"/>
          </a:p>
        </p:txBody>
      </p:sp>
      <p:sp>
        <p:nvSpPr>
          <p:cNvPr id="7" name="Text 5"/>
          <p:cNvSpPr/>
          <p:nvPr/>
        </p:nvSpPr>
        <p:spPr>
          <a:xfrm>
            <a:off x="5636419" y="1779687"/>
            <a:ext cx="2039838" cy="202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Конверсия лид → ЭС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651400" y="2058814"/>
            <a:ext cx="4009876" cy="2119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из квалифицированных заявок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82724" y="2593925"/>
            <a:ext cx="4009802" cy="455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5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19</a:t>
            </a:r>
            <a:endParaRPr lang="en-US" sz="3550" dirty="0"/>
          </a:p>
        </p:txBody>
      </p:sp>
      <p:sp>
        <p:nvSpPr>
          <p:cNvPr id="10" name="Text 8"/>
          <p:cNvSpPr/>
          <p:nvPr/>
        </p:nvSpPr>
        <p:spPr>
          <a:xfrm>
            <a:off x="1108695" y="3213274"/>
            <a:ext cx="2757785" cy="202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Клиентов для окупаемости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82724" y="3492401"/>
            <a:ext cx="4009802" cy="2119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дополнительных клиентов необходимо привлечь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651400" y="2593925"/>
            <a:ext cx="4009876" cy="455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5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3–4</a:t>
            </a:r>
            <a:endParaRPr lang="en-US" sz="3550" dirty="0"/>
          </a:p>
        </p:txBody>
      </p:sp>
      <p:sp>
        <p:nvSpPr>
          <p:cNvPr id="13" name="Text 11"/>
          <p:cNvSpPr/>
          <p:nvPr/>
        </p:nvSpPr>
        <p:spPr>
          <a:xfrm>
            <a:off x="5738515" y="3213274"/>
            <a:ext cx="1835572" cy="202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Мес. окупаемости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651400" y="3492401"/>
            <a:ext cx="4009876" cy="2119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прогнозируемый срок возврата инвестиций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2724" y="3847356"/>
            <a:ext cx="8178552" cy="721519"/>
          </a:xfrm>
          <a:prstGeom prst="roundRect">
            <a:avLst>
              <a:gd name="adj" fmla="val 2867"/>
            </a:avLst>
          </a:prstGeom>
          <a:solidFill>
            <a:srgbClr val="183A13"/>
          </a:solidFill>
          <a:ln/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0613" y="4041874"/>
            <a:ext cx="172343" cy="137889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930846" y="3996184"/>
            <a:ext cx="7592541" cy="4238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Вывод:</a:t>
            </a:r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Проект экономически целесообразен — при текущих показателях бизнеса инвестиции окупаются менее чем за 4 месяца.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41796" y="375047"/>
            <a:ext cx="4139282" cy="3713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Результаты проекта</a:t>
            </a:r>
            <a:endParaRPr lang="en-US" sz="2300" dirty="0"/>
          </a:p>
        </p:txBody>
      </p:sp>
      <p:sp>
        <p:nvSpPr>
          <p:cNvPr id="4" name="Shape 1"/>
          <p:cNvSpPr/>
          <p:nvPr/>
        </p:nvSpPr>
        <p:spPr>
          <a:xfrm>
            <a:off x="441796" y="906140"/>
            <a:ext cx="2362423" cy="1544985"/>
          </a:xfrm>
          <a:prstGeom prst="roundRect">
            <a:avLst>
              <a:gd name="adj" fmla="val 1226"/>
            </a:avLst>
          </a:prstGeom>
          <a:solidFill>
            <a:srgbClr val="304755"/>
          </a:solidFill>
          <a:ln/>
        </p:spPr>
      </p:sp>
      <p:sp>
        <p:nvSpPr>
          <p:cNvPr id="5" name="Shape 2"/>
          <p:cNvSpPr/>
          <p:nvPr/>
        </p:nvSpPr>
        <p:spPr>
          <a:xfrm>
            <a:off x="568003" y="1032346"/>
            <a:ext cx="378693" cy="378693"/>
          </a:xfrm>
          <a:prstGeom prst="roundRect">
            <a:avLst>
              <a:gd name="adj" fmla="val 15089871"/>
            </a:avLst>
          </a:prstGeom>
          <a:solidFill>
            <a:srgbClr val="0A988B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2108" y="1136452"/>
            <a:ext cx="170408" cy="17040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68003" y="1517526"/>
            <a:ext cx="2110011" cy="3713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MVP создан и протестирован</a:t>
            </a:r>
            <a:endParaRPr lang="en-US" sz="1150" dirty="0"/>
          </a:p>
        </p:txBody>
      </p:sp>
      <p:sp>
        <p:nvSpPr>
          <p:cNvPr id="8" name="Text 4"/>
          <p:cNvSpPr/>
          <p:nvPr/>
        </p:nvSpPr>
        <p:spPr>
          <a:xfrm>
            <a:off x="568003" y="1952699"/>
            <a:ext cx="2110011" cy="3722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Работающий продукт готов к пилотному запуску</a:t>
            </a:r>
            <a:endParaRPr lang="en-US" sz="950" dirty="0"/>
          </a:p>
        </p:txBody>
      </p:sp>
      <p:sp>
        <p:nvSpPr>
          <p:cNvPr id="9" name="Shape 5"/>
          <p:cNvSpPr/>
          <p:nvPr/>
        </p:nvSpPr>
        <p:spPr>
          <a:xfrm>
            <a:off x="2910706" y="906140"/>
            <a:ext cx="2362498" cy="1544985"/>
          </a:xfrm>
          <a:prstGeom prst="roundRect">
            <a:avLst>
              <a:gd name="adj" fmla="val 1226"/>
            </a:avLst>
          </a:prstGeom>
          <a:solidFill>
            <a:srgbClr val="304755"/>
          </a:solidFill>
          <a:ln/>
        </p:spPr>
      </p:sp>
      <p:sp>
        <p:nvSpPr>
          <p:cNvPr id="10" name="Shape 6"/>
          <p:cNvSpPr/>
          <p:nvPr/>
        </p:nvSpPr>
        <p:spPr>
          <a:xfrm>
            <a:off x="3036912" y="1032346"/>
            <a:ext cx="378693" cy="378693"/>
          </a:xfrm>
          <a:prstGeom prst="roundRect">
            <a:avLst>
              <a:gd name="adj" fmla="val 15089871"/>
            </a:avLst>
          </a:prstGeom>
          <a:solidFill>
            <a:srgbClr val="0A988B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141018" y="1136452"/>
            <a:ext cx="170408" cy="17040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036912" y="1517526"/>
            <a:ext cx="1712640" cy="185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Интеграция с CRM</a:t>
            </a:r>
            <a:endParaRPr lang="en-US" sz="1150" dirty="0"/>
          </a:p>
        </p:txBody>
      </p:sp>
      <p:sp>
        <p:nvSpPr>
          <p:cNvPr id="13" name="Text 8"/>
          <p:cNvSpPr/>
          <p:nvPr/>
        </p:nvSpPr>
        <p:spPr>
          <a:xfrm>
            <a:off x="3036912" y="1767036"/>
            <a:ext cx="2110085" cy="3722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Автоматическая передача лидов в Bitrix24 через n8n</a:t>
            </a:r>
            <a:endParaRPr lang="en-US" sz="950" dirty="0"/>
          </a:p>
        </p:txBody>
      </p:sp>
      <p:sp>
        <p:nvSpPr>
          <p:cNvPr id="14" name="Shape 9"/>
          <p:cNvSpPr/>
          <p:nvPr/>
        </p:nvSpPr>
        <p:spPr>
          <a:xfrm>
            <a:off x="441796" y="2557611"/>
            <a:ext cx="4831407" cy="1173212"/>
          </a:xfrm>
          <a:prstGeom prst="roundRect">
            <a:avLst>
              <a:gd name="adj" fmla="val 1614"/>
            </a:avLst>
          </a:prstGeom>
          <a:solidFill>
            <a:srgbClr val="304755"/>
          </a:solidFill>
          <a:ln/>
        </p:spPr>
      </p:sp>
      <p:sp>
        <p:nvSpPr>
          <p:cNvPr id="15" name="Shape 10"/>
          <p:cNvSpPr/>
          <p:nvPr/>
        </p:nvSpPr>
        <p:spPr>
          <a:xfrm>
            <a:off x="568003" y="2683818"/>
            <a:ext cx="378693" cy="378693"/>
          </a:xfrm>
          <a:prstGeom prst="roundRect">
            <a:avLst>
              <a:gd name="adj" fmla="val 15089871"/>
            </a:avLst>
          </a:prstGeom>
          <a:solidFill>
            <a:srgbClr val="0A988B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72108" y="2787923"/>
            <a:ext cx="170408" cy="17040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68003" y="3168997"/>
            <a:ext cx="2456706" cy="185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Безопасный RAG Assistant</a:t>
            </a:r>
            <a:endParaRPr lang="en-US" sz="1150" dirty="0"/>
          </a:p>
        </p:txBody>
      </p:sp>
      <p:sp>
        <p:nvSpPr>
          <p:cNvPr id="18" name="Text 12"/>
          <p:cNvSpPr/>
          <p:nvPr/>
        </p:nvSpPr>
        <p:spPr>
          <a:xfrm>
            <a:off x="568003" y="3418508"/>
            <a:ext cx="4578995" cy="186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Защита от галлюцинаций и выхода за рамки компетенции</a:t>
            </a:r>
            <a:endParaRPr lang="en-US" sz="950" dirty="0"/>
          </a:p>
        </p:txBody>
      </p:sp>
      <p:sp>
        <p:nvSpPr>
          <p:cNvPr id="19" name="Text 13"/>
          <p:cNvSpPr/>
          <p:nvPr/>
        </p:nvSpPr>
        <p:spPr>
          <a:xfrm>
            <a:off x="631106" y="3970437"/>
            <a:ext cx="4642098" cy="3722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«EcoLeadBot помогает превращать SEO-трафик в квалифицированных клиентов, сохраняя контроль человека над принятием решений»</a:t>
            </a:r>
            <a:endParaRPr lang="en-US" sz="950" dirty="0"/>
          </a:p>
        </p:txBody>
      </p:sp>
      <p:sp>
        <p:nvSpPr>
          <p:cNvPr id="20" name="Text 14"/>
          <p:cNvSpPr/>
          <p:nvPr/>
        </p:nvSpPr>
        <p:spPr>
          <a:xfrm>
            <a:off x="441796" y="4582269"/>
            <a:ext cx="5288607" cy="186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Проект готов к пилотному запуску в </a:t>
            </a:r>
            <a:pPr algn="l" indent="0" marL="0">
              <a:lnSpc>
                <a:spcPct val="123000"/>
              </a:lnSpc>
              <a:buNone/>
            </a:pPr>
            <a:r>
              <a:rPr lang="en-US" sz="95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ООО «Экологические услуги»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2026-06-11T17:11:19Z</dcterms:created>
  <dcterms:modified xsi:type="dcterms:W3CDTF">2026-06-11T17:11:19Z</dcterms:modified>
</cp:coreProperties>
</file>